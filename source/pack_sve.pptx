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FFE699"/>
    <a:srgbClr val="F8CBAD"/>
    <a:srgbClr val="C5E0B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3AD28-C441-2538-4DFC-D6DFCDB89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90AF89-60EC-730F-F249-D4C7BDE99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ADE3E2-A63C-7F0B-139D-6A54016DC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165EA0-DE6D-3A49-A025-C2570ED6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85961D-3B30-33A5-6189-73FF69C4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1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3FBBA-4912-DBD4-17F6-7521DA1F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D8AD6-DCEE-5ACE-E18F-9D557F813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EED3B-99D4-F796-2CE9-0B8DAD6F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258C1-1E00-CC20-7C34-2A9A46B71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908768-D0EE-A6BF-390E-E281FC1E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589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E989D-204A-79B1-B417-3CA1E624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6DCF00-5BA0-C57B-5047-4C65773C9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3CFED9-5D69-2E3D-8ED5-EE9726E3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7949D-6189-B751-80D8-C847E109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E09683-27A2-4D01-035B-8DB85758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9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D10CE-986D-116B-3428-D3A0017A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6C708E-F47E-2594-91AC-A279EEB1D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B43430-4CFD-7F3D-1579-FD686EFB3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61EC31-3911-B6AD-2A77-0D680BDE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CD0ED0-2019-9D47-A8CA-1542ABCF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170252-C1B6-196B-93A2-06E85E2D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17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2302F-6F92-C376-E3B5-DF9A2E3A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AF0942-E537-10FD-2149-43EABF419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17423-E7FB-4512-8CD9-F8E375D6D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1E42CE-CB58-05A3-69EA-8121E29DC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E4F7EC-820C-B35A-1199-F4F0CCDED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D0DFA9-FE22-2050-254D-2AFC2F6D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5CAFE3-E1F8-10BC-3D79-34F3E6BF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796FE3-33B6-FFA5-1D54-127FCCF4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54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3F1B7-A771-3B96-5F5E-537DEFDE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130DA5-119F-4E01-7AC8-6D3D11BA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6327F8-141F-ADD9-59B1-11D91C06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AE6EC3-8733-8C5F-4854-E186A4D5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98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AC7D08-F966-130A-565F-9850F4F0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EF2251-E81A-FDE5-07F5-6979268D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5F057D-78D5-B908-D827-4F334389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4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10EB7-C7BF-2FC6-88EC-DACF6035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D2B61-BD71-02C3-CD1D-7B1CE8EE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F7072C-8665-38EC-6F07-5CA915E2E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B01BD4-401C-B3C3-9491-07789F47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44A66-A458-503F-1A02-CB7FE107E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2F4D2F-AC72-F1A8-3DF8-CFA8547A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92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0AB5E-93D2-2130-C953-15285257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0670B6-6EEC-0C66-CAE0-252E84720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87F80F-9527-614B-6A49-84667B9AE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9055B9-4A33-EFC0-4541-0288F3FD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BEF8B6-94CE-2A17-F562-58481429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27E795-984B-8BD6-0B21-D79CDFC37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94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902AB-6CC6-18AA-6114-34311C7B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9D2A30-E01D-B523-46E5-5EA5E4FB9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06D67-8264-7978-BF82-79C23C8C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B1995B-FCE5-067B-9B7A-82440A89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D285BE-FDF8-EDD3-690F-26A2F165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65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0D1FF9-7149-ED75-F844-DA350E427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D6E9F3-591E-07FE-904F-6345E2719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62896-79E4-97C3-1897-691122EC2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D2B646-E037-977F-782B-76B115CF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03290-0DD1-06D1-60D8-FF9BB3B9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08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9B3D08-778B-6D0F-8044-708CF720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8B728A-348B-99AC-DCEB-42DF7DCCA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02B819-7DDC-3696-0612-9CDC71BCE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6728-24B6-41E2-A49A-4CAD74EFF3B2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578124-8D5D-B7AE-DDDD-E8F22CAFE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6CDFC0-FCBB-4DB1-4BA4-E17BF95A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802FE-CCFA-4590-8ADA-2AEF21E14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17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93B963-C343-9D83-EB44-5BA88EE95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863871"/>
              </p:ext>
            </p:extLst>
          </p:nvPr>
        </p:nvGraphicFramePr>
        <p:xfrm>
          <a:off x="291725" y="177003"/>
          <a:ext cx="144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423075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769406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06309082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549407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9974807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8134015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8504764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a6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a7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96114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061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55933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45D1EA5-B2DD-8A8D-D529-7713E2CB2683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731725" y="455421"/>
            <a:ext cx="2998252" cy="81582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B8528B1-5AC8-31D1-1D21-44F95AFCC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473128"/>
              </p:ext>
            </p:extLst>
          </p:nvPr>
        </p:nvGraphicFramePr>
        <p:xfrm>
          <a:off x="8969468" y="375253"/>
          <a:ext cx="28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0935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86506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895527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1280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74080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596908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7317825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429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307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45148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3072BC3-F756-3C85-2B6A-C052C381E6D7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484948" y="1095253"/>
            <a:ext cx="148452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F282E9A-FC30-8F6C-A45C-527147F5B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550334"/>
              </p:ext>
            </p:extLst>
          </p:nvPr>
        </p:nvGraphicFramePr>
        <p:xfrm>
          <a:off x="2227319" y="3508412"/>
          <a:ext cx="14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1239807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3438823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3673555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10892421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27209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9500167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7327317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a6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a7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3988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141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389411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A40D085-3746-B40B-C0FC-D1C0FAF3F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003896"/>
              </p:ext>
            </p:extLst>
          </p:nvPr>
        </p:nvGraphicFramePr>
        <p:xfrm>
          <a:off x="8969468" y="3817347"/>
          <a:ext cx="28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0935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86506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895527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1280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74080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596908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7317825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429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307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45148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B410A2B4-FA5B-2A98-F330-157C622A29FB}"/>
              </a:ext>
            </a:extLst>
          </p:cNvPr>
          <p:cNvSpPr txBox="1"/>
          <p:nvPr/>
        </p:nvSpPr>
        <p:spPr>
          <a:xfrm>
            <a:off x="2200194" y="3082554"/>
            <a:ext cx="41838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a0v.s[0]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D30BEAB-7CFD-5109-DA58-1A62633D2A79}"/>
              </a:ext>
            </a:extLst>
          </p:cNvPr>
          <p:cNvSpPr txBox="1"/>
          <p:nvPr/>
        </p:nvSpPr>
        <p:spPr>
          <a:xfrm>
            <a:off x="2685628" y="470782"/>
            <a:ext cx="878447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trn.s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289B0C-C9EF-9093-1222-3923E16246C5}"/>
              </a:ext>
            </a:extLst>
          </p:cNvPr>
          <p:cNvSpPr txBox="1"/>
          <p:nvPr/>
        </p:nvSpPr>
        <p:spPr>
          <a:xfrm>
            <a:off x="7791993" y="729494"/>
            <a:ext cx="870431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trn.d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A662E1-54E4-2C81-9CA6-7B87ABF3E0E9}"/>
              </a:ext>
            </a:extLst>
          </p:cNvPr>
          <p:cNvSpPr txBox="1"/>
          <p:nvPr/>
        </p:nvSpPr>
        <p:spPr>
          <a:xfrm>
            <a:off x="7464534" y="4168015"/>
            <a:ext cx="1201419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movv.s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ABDBB3-8A7F-6A19-B5E2-BF337374FD6A}"/>
              </a:ext>
            </a:extLst>
          </p:cNvPr>
          <p:cNvSpPr txBox="1"/>
          <p:nvPr/>
        </p:nvSpPr>
        <p:spPr>
          <a:xfrm>
            <a:off x="724875" y="5206736"/>
            <a:ext cx="89607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R0.h ~ R3.h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D627BF-76F7-2749-133B-4192E8D53241}"/>
              </a:ext>
            </a:extLst>
          </p:cNvPr>
          <p:cNvSpPr txBox="1"/>
          <p:nvPr/>
        </p:nvSpPr>
        <p:spPr>
          <a:xfrm>
            <a:off x="9648191" y="2015933"/>
            <a:ext cx="1655903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R0.h ~ R3.h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EC15F83-54EB-336F-1EF4-12286356B690}"/>
              </a:ext>
            </a:extLst>
          </p:cNvPr>
          <p:cNvSpPr txBox="1"/>
          <p:nvPr/>
        </p:nvSpPr>
        <p:spPr>
          <a:xfrm>
            <a:off x="2804652" y="5218057"/>
            <a:ext cx="285335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a0.s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DF4A49F-8D43-88C3-3496-45C83C57FBE5}"/>
              </a:ext>
            </a:extLst>
          </p:cNvPr>
          <p:cNvSpPr txBox="1"/>
          <p:nvPr/>
        </p:nvSpPr>
        <p:spPr>
          <a:xfrm>
            <a:off x="9648191" y="5759673"/>
            <a:ext cx="1655903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R0.h ~ R3.h</a:t>
            </a:r>
            <a:endParaRPr lang="zh-CN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70DC0D7-18C9-063A-72EC-66B4C265C20B}"/>
              </a:ext>
            </a:extLst>
          </p:cNvPr>
          <p:cNvSpPr txBox="1"/>
          <p:nvPr/>
        </p:nvSpPr>
        <p:spPr>
          <a:xfrm>
            <a:off x="1569274" y="2749236"/>
            <a:ext cx="270747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Pack matrix by vector instructions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2BA69D-03EC-B308-1011-B634E2A3B159}"/>
              </a:ext>
            </a:extLst>
          </p:cNvPr>
          <p:cNvSpPr txBox="1"/>
          <p:nvPr/>
        </p:nvSpPr>
        <p:spPr>
          <a:xfrm>
            <a:off x="1927808" y="5587844"/>
            <a:ext cx="2337178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Pack matrix by array register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42CE5B0-A562-89A9-AE17-627754AC9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00814"/>
              </p:ext>
            </p:extLst>
          </p:nvPr>
        </p:nvGraphicFramePr>
        <p:xfrm>
          <a:off x="448030" y="124936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35524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253996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854113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7987568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845666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147062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242827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963529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a6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a7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1515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65BCA7E-DDB3-33F5-90C5-CCCB44F9D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508143"/>
              </p:ext>
            </p:extLst>
          </p:nvPr>
        </p:nvGraphicFramePr>
        <p:xfrm>
          <a:off x="448030" y="151936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284386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963755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9918932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123811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115176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538813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736037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416981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9874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1D7A99-94D5-8966-F6C9-97ED5E648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770256"/>
              </p:ext>
            </p:extLst>
          </p:nvPr>
        </p:nvGraphicFramePr>
        <p:xfrm>
          <a:off x="2324919" y="124936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35524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253996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854113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7987568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845666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147062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242827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963529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b0</a:t>
                      </a:r>
                      <a:endParaRPr lang="zh-CN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b1</a:t>
                      </a:r>
                      <a:endParaRPr lang="zh-CN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b5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1515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82616A3-7911-AC4B-B3A1-CD3D2DC35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72575"/>
              </p:ext>
            </p:extLst>
          </p:nvPr>
        </p:nvGraphicFramePr>
        <p:xfrm>
          <a:off x="2324919" y="151936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284386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963755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9918932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123811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115176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538813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736037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416981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98742"/>
                  </a:ext>
                </a:extLst>
              </a:tr>
            </a:tbl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CF7548B-BE39-AB94-A5E9-FC3FEAD3451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1888030" y="1339362"/>
            <a:ext cx="4368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5E5E05E-BBDE-0700-69A0-1BDF92CE0433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1888030" y="1339362"/>
            <a:ext cx="436889" cy="27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262AE88-0917-789E-C2A2-2B1780EB1A8C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1888030" y="1339362"/>
            <a:ext cx="436889" cy="27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4CE0705-51BE-8202-D07C-5FF29E5BC0FF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1888030" y="1609362"/>
            <a:ext cx="4368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ACF91275-2245-D940-96B5-E78070802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710210"/>
              </p:ext>
            </p:extLst>
          </p:nvPr>
        </p:nvGraphicFramePr>
        <p:xfrm>
          <a:off x="448030" y="1892663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5929245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036142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33988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210195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07322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417801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482963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4362228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47689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4FC18B35-84C7-E91A-9D6D-0090BA431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143467"/>
              </p:ext>
            </p:extLst>
          </p:nvPr>
        </p:nvGraphicFramePr>
        <p:xfrm>
          <a:off x="448030" y="216154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424085766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88941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587239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954740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85205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362206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288724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4567893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55088"/>
                  </a:ext>
                </a:extLst>
              </a:tr>
            </a:tbl>
          </a:graphicData>
        </a:graphic>
      </p:graphicFrame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1150F2D-A17F-9555-CD01-29A1F94B1D50}"/>
              </a:ext>
            </a:extLst>
          </p:cNvPr>
          <p:cNvCxnSpPr>
            <a:cxnSpLocks/>
            <a:stCxn id="40" idx="3"/>
            <a:endCxn id="50" idx="1"/>
          </p:cNvCxnSpPr>
          <p:nvPr/>
        </p:nvCxnSpPr>
        <p:spPr>
          <a:xfrm>
            <a:off x="1888030" y="1982663"/>
            <a:ext cx="4368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B1639854-E31C-DC25-FF85-7ABBBC9C4561}"/>
              </a:ext>
            </a:extLst>
          </p:cNvPr>
          <p:cNvCxnSpPr>
            <a:cxnSpLocks/>
            <a:stCxn id="40" idx="3"/>
            <a:endCxn id="53" idx="1"/>
          </p:cNvCxnSpPr>
          <p:nvPr/>
        </p:nvCxnSpPr>
        <p:spPr>
          <a:xfrm>
            <a:off x="1888030" y="1982663"/>
            <a:ext cx="436889" cy="268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AB29FB6-1900-C079-7E5B-7C64E0EDD0FA}"/>
              </a:ext>
            </a:extLst>
          </p:cNvPr>
          <p:cNvCxnSpPr>
            <a:cxnSpLocks/>
            <a:stCxn id="41" idx="3"/>
            <a:endCxn id="50" idx="1"/>
          </p:cNvCxnSpPr>
          <p:nvPr/>
        </p:nvCxnSpPr>
        <p:spPr>
          <a:xfrm flipV="1">
            <a:off x="1888030" y="1982663"/>
            <a:ext cx="436889" cy="26887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7B7C8AC-6540-4E6D-028C-BA3DF3E76F1A}"/>
              </a:ext>
            </a:extLst>
          </p:cNvPr>
          <p:cNvCxnSpPr>
            <a:cxnSpLocks/>
            <a:stCxn id="41" idx="3"/>
            <a:endCxn id="53" idx="1"/>
          </p:cNvCxnSpPr>
          <p:nvPr/>
        </p:nvCxnSpPr>
        <p:spPr>
          <a:xfrm>
            <a:off x="1888030" y="2251542"/>
            <a:ext cx="4368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DD4A2582-91C2-E239-E7A2-E4C8D9CAA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989803"/>
              </p:ext>
            </p:extLst>
          </p:nvPr>
        </p:nvGraphicFramePr>
        <p:xfrm>
          <a:off x="2324919" y="1892663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5929245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036142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33988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210195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07322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417801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482963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4362228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47689"/>
                  </a:ext>
                </a:extLst>
              </a:tr>
            </a:tbl>
          </a:graphicData>
        </a:graphic>
      </p:graphicFrame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C5807486-118C-1E04-1C50-86D6A5290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854593"/>
              </p:ext>
            </p:extLst>
          </p:nvPr>
        </p:nvGraphicFramePr>
        <p:xfrm>
          <a:off x="2324919" y="216154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424085766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88941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587239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954740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85205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362206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288724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4567893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55088"/>
                  </a:ext>
                </a:extLst>
              </a:tr>
            </a:tbl>
          </a:graphicData>
        </a:graphic>
      </p:graphicFrame>
      <p:graphicFrame>
        <p:nvGraphicFramePr>
          <p:cNvPr id="57" name="表格 56">
            <a:extLst>
              <a:ext uri="{FF2B5EF4-FFF2-40B4-BE49-F238E27FC236}">
                <a16:creationId xmlns:a16="http://schemas.microsoft.com/office/drawing/2014/main" id="{7EF5E6AB-040F-51F5-59E0-BFD1C33ED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52894"/>
              </p:ext>
            </p:extLst>
          </p:nvPr>
        </p:nvGraphicFramePr>
        <p:xfrm>
          <a:off x="4201807" y="124936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35524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253996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854113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7987568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845666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147062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242827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963529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b0</a:t>
                      </a:r>
                      <a:endParaRPr lang="zh-CN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b1</a:t>
                      </a:r>
                      <a:endParaRPr lang="zh-CN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15155"/>
                  </a:ext>
                </a:extLst>
              </a:tr>
            </a:tbl>
          </a:graphicData>
        </a:graphic>
      </p:graphicFrame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0F98BB3C-9386-76FD-FB5E-E69D3A7B6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193904"/>
              </p:ext>
            </p:extLst>
          </p:nvPr>
        </p:nvGraphicFramePr>
        <p:xfrm>
          <a:off x="4201807" y="151936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284386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963755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9918932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123811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115176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538813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736037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416981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98742"/>
                  </a:ext>
                </a:extLst>
              </a:tr>
            </a:tbl>
          </a:graphicData>
        </a:graphic>
      </p:graphicFrame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81CF50CE-433C-E3BD-4CDA-4852BC737042}"/>
              </a:ext>
            </a:extLst>
          </p:cNvPr>
          <p:cNvCxnSpPr>
            <a:cxnSpLocks/>
            <a:stCxn id="6" idx="3"/>
            <a:endCxn id="57" idx="1"/>
          </p:cNvCxnSpPr>
          <p:nvPr/>
        </p:nvCxnSpPr>
        <p:spPr>
          <a:xfrm>
            <a:off x="3764919" y="1339362"/>
            <a:ext cx="43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6FBB8E7-3865-9526-5753-F7E5F0C04C9E}"/>
              </a:ext>
            </a:extLst>
          </p:cNvPr>
          <p:cNvCxnSpPr>
            <a:cxnSpLocks/>
            <a:stCxn id="6" idx="3"/>
            <a:endCxn id="67" idx="1"/>
          </p:cNvCxnSpPr>
          <p:nvPr/>
        </p:nvCxnSpPr>
        <p:spPr>
          <a:xfrm>
            <a:off x="3764919" y="1339362"/>
            <a:ext cx="436888" cy="643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6CE44E3-EBED-1452-40C4-4EAC5A5FD960}"/>
              </a:ext>
            </a:extLst>
          </p:cNvPr>
          <p:cNvCxnSpPr>
            <a:cxnSpLocks/>
            <a:stCxn id="9" idx="3"/>
            <a:endCxn id="68" idx="1"/>
          </p:cNvCxnSpPr>
          <p:nvPr/>
        </p:nvCxnSpPr>
        <p:spPr>
          <a:xfrm>
            <a:off x="3764919" y="1609362"/>
            <a:ext cx="436888" cy="6421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5FB43F6C-3ED8-8C4D-4C8A-DC22FFF99708}"/>
              </a:ext>
            </a:extLst>
          </p:cNvPr>
          <p:cNvCxnSpPr>
            <a:cxnSpLocks/>
            <a:stCxn id="9" idx="3"/>
            <a:endCxn id="58" idx="1"/>
          </p:cNvCxnSpPr>
          <p:nvPr/>
        </p:nvCxnSpPr>
        <p:spPr>
          <a:xfrm>
            <a:off x="3764919" y="1609362"/>
            <a:ext cx="43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ABDAD636-6085-A91C-CCED-0307B8BEFB28}"/>
              </a:ext>
            </a:extLst>
          </p:cNvPr>
          <p:cNvCxnSpPr>
            <a:cxnSpLocks/>
            <a:stCxn id="50" idx="3"/>
            <a:endCxn id="57" idx="1"/>
          </p:cNvCxnSpPr>
          <p:nvPr/>
        </p:nvCxnSpPr>
        <p:spPr>
          <a:xfrm flipV="1">
            <a:off x="3764919" y="1339362"/>
            <a:ext cx="436888" cy="64330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3750089-24B6-AEDE-CF4E-DF9899EFE779}"/>
              </a:ext>
            </a:extLst>
          </p:cNvPr>
          <p:cNvCxnSpPr>
            <a:cxnSpLocks/>
            <a:stCxn id="50" idx="3"/>
            <a:endCxn id="67" idx="1"/>
          </p:cNvCxnSpPr>
          <p:nvPr/>
        </p:nvCxnSpPr>
        <p:spPr>
          <a:xfrm>
            <a:off x="3764919" y="1982663"/>
            <a:ext cx="43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8237046-B459-A7BC-6032-1FD369C01140}"/>
              </a:ext>
            </a:extLst>
          </p:cNvPr>
          <p:cNvCxnSpPr>
            <a:cxnSpLocks/>
            <a:stCxn id="53" idx="3"/>
            <a:endCxn id="58" idx="1"/>
          </p:cNvCxnSpPr>
          <p:nvPr/>
        </p:nvCxnSpPr>
        <p:spPr>
          <a:xfrm flipV="1">
            <a:off x="3764919" y="1609362"/>
            <a:ext cx="436888" cy="6421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E7036540-BF9D-FF7C-EF82-5BA7FF75266A}"/>
              </a:ext>
            </a:extLst>
          </p:cNvPr>
          <p:cNvCxnSpPr>
            <a:cxnSpLocks/>
            <a:stCxn id="53" idx="3"/>
            <a:endCxn id="68" idx="1"/>
          </p:cNvCxnSpPr>
          <p:nvPr/>
        </p:nvCxnSpPr>
        <p:spPr>
          <a:xfrm>
            <a:off x="3764919" y="2251542"/>
            <a:ext cx="436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69B9EF30-FDD0-FF16-304A-0B333DB36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15612"/>
              </p:ext>
            </p:extLst>
          </p:nvPr>
        </p:nvGraphicFramePr>
        <p:xfrm>
          <a:off x="4201807" y="1892663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5929245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036142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33988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210195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07322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417801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482963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4362228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b5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47689"/>
                  </a:ext>
                </a:extLst>
              </a:tr>
            </a:tbl>
          </a:graphicData>
        </a:graphic>
      </p:graphicFrame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1134DF45-B88A-78F8-C05D-4E7219B66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854429"/>
              </p:ext>
            </p:extLst>
          </p:nvPr>
        </p:nvGraphicFramePr>
        <p:xfrm>
          <a:off x="4201807" y="2161542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424085766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88941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587239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954740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85205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362206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288724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4567893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55088"/>
                  </a:ext>
                </a:extLst>
              </a:tr>
            </a:tbl>
          </a:graphicData>
        </a:graphic>
      </p:graphicFrame>
      <p:graphicFrame>
        <p:nvGraphicFramePr>
          <p:cNvPr id="74" name="表格 73">
            <a:extLst>
              <a:ext uri="{FF2B5EF4-FFF2-40B4-BE49-F238E27FC236}">
                <a16:creationId xmlns:a16="http://schemas.microsoft.com/office/drawing/2014/main" id="{55D9A1B6-54B9-81AB-A87F-7BA894595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173528"/>
              </p:ext>
            </p:extLst>
          </p:nvPr>
        </p:nvGraphicFramePr>
        <p:xfrm>
          <a:off x="452914" y="373731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35524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253996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854113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7987568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845666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147062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242827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963529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a6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a7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15155"/>
                  </a:ext>
                </a:extLst>
              </a:tr>
            </a:tbl>
          </a:graphicData>
        </a:graphic>
      </p:graphicFrame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DC3FA996-CE0D-C5A8-7D47-C9E4A78F2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40317"/>
              </p:ext>
            </p:extLst>
          </p:nvPr>
        </p:nvGraphicFramePr>
        <p:xfrm>
          <a:off x="452914" y="404137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284386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963755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9918932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123811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115176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538813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736037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416981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98742"/>
                  </a:ext>
                </a:extLst>
              </a:tr>
            </a:tbl>
          </a:graphicData>
        </a:graphic>
      </p:graphicFrame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81E629F4-C9A8-420A-C758-1399850E8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17591"/>
              </p:ext>
            </p:extLst>
          </p:nvPr>
        </p:nvGraphicFramePr>
        <p:xfrm>
          <a:off x="452914" y="434543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5929245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036142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33988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210195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07322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417801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482963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4362228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47689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F043B675-8E1C-50F0-9317-CCD8A35E1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40"/>
              </p:ext>
            </p:extLst>
          </p:nvPr>
        </p:nvGraphicFramePr>
        <p:xfrm>
          <a:off x="452914" y="464949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424085766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88941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587239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954740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85205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362206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288724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4567893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55088"/>
                  </a:ext>
                </a:extLst>
              </a:tr>
            </a:tbl>
          </a:graphicData>
        </a:graphic>
      </p:graphicFrame>
      <p:sp>
        <p:nvSpPr>
          <p:cNvPr id="80" name="左大括号 79">
            <a:extLst>
              <a:ext uri="{FF2B5EF4-FFF2-40B4-BE49-F238E27FC236}">
                <a16:creationId xmlns:a16="http://schemas.microsoft.com/office/drawing/2014/main" id="{3D0DD155-E51C-AB62-BA40-0F3C8842139C}"/>
              </a:ext>
            </a:extLst>
          </p:cNvPr>
          <p:cNvSpPr/>
          <p:nvPr/>
        </p:nvSpPr>
        <p:spPr>
          <a:xfrm rot="5400000">
            <a:off x="2359379" y="3200321"/>
            <a:ext cx="100013" cy="364134"/>
          </a:xfrm>
          <a:prstGeom prst="leftBrac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2" name="表格 81">
            <a:extLst>
              <a:ext uri="{FF2B5EF4-FFF2-40B4-BE49-F238E27FC236}">
                <a16:creationId xmlns:a16="http://schemas.microsoft.com/office/drawing/2014/main" id="{9E496DC7-AD75-614A-3FB4-D62ED1D0B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465927"/>
              </p:ext>
            </p:extLst>
          </p:nvPr>
        </p:nvGraphicFramePr>
        <p:xfrm>
          <a:off x="4201807" y="373731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35524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2539962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6854113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7987568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8456661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147062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2428278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963529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b0</a:t>
                      </a:r>
                      <a:endParaRPr lang="zh-CN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b1</a:t>
                      </a:r>
                      <a:endParaRPr lang="zh-CN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15155"/>
                  </a:ext>
                </a:extLst>
              </a:tr>
            </a:tbl>
          </a:graphicData>
        </a:graphic>
      </p:graphicFrame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9BAEBFAA-2789-0C13-38FE-F95EB5220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824837"/>
              </p:ext>
            </p:extLst>
          </p:nvPr>
        </p:nvGraphicFramePr>
        <p:xfrm>
          <a:off x="4201807" y="404137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284386414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963755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89918932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123811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2115176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538813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736037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416981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98742"/>
                  </a:ext>
                </a:extLst>
              </a:tr>
            </a:tbl>
          </a:graphicData>
        </a:graphic>
      </p:graphicFrame>
      <p:graphicFrame>
        <p:nvGraphicFramePr>
          <p:cNvPr id="84" name="表格 83">
            <a:extLst>
              <a:ext uri="{FF2B5EF4-FFF2-40B4-BE49-F238E27FC236}">
                <a16:creationId xmlns:a16="http://schemas.microsoft.com/office/drawing/2014/main" id="{9506A3CE-B529-4A44-2444-349E68D94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993480"/>
              </p:ext>
            </p:extLst>
          </p:nvPr>
        </p:nvGraphicFramePr>
        <p:xfrm>
          <a:off x="4201807" y="434543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35929245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036142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0339885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210195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07322420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417801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4829636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4362228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a5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chemeClr val="tx1"/>
                          </a:solidFill>
                        </a:rPr>
                        <a:t>b5</a:t>
                      </a:r>
                      <a:endParaRPr lang="zh-CN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47689"/>
                  </a:ext>
                </a:extLst>
              </a:tr>
            </a:tbl>
          </a:graphicData>
        </a:graphic>
      </p:graphicFrame>
      <p:graphicFrame>
        <p:nvGraphicFramePr>
          <p:cNvPr id="85" name="表格 84">
            <a:extLst>
              <a:ext uri="{FF2B5EF4-FFF2-40B4-BE49-F238E27FC236}">
                <a16:creationId xmlns:a16="http://schemas.microsoft.com/office/drawing/2014/main" id="{7F653BCB-0D90-E529-D824-E69A8B016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448798"/>
              </p:ext>
            </p:extLst>
          </p:nvPr>
        </p:nvGraphicFramePr>
        <p:xfrm>
          <a:off x="4201807" y="4649494"/>
          <a:ext cx="1440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424085766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588941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5587239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9547405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852056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03622060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2887248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4567893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a7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b7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c7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CN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55088"/>
                  </a:ext>
                </a:extLst>
              </a:tr>
            </a:tbl>
          </a:graphicData>
        </a:graphic>
      </p:graphicFrame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99360390-EA91-D29F-9BF2-269A7373AA2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1892914" y="3684908"/>
            <a:ext cx="334404" cy="1424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B388D3C6-5467-A757-3F28-7FA216268370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1892914" y="4053034"/>
            <a:ext cx="334404" cy="7834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72FF0628-A47F-AD5E-B93E-EF63DE7038ED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1892914" y="4393479"/>
            <a:ext cx="334404" cy="41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6FE93BDF-6BBB-4EFC-D68B-3E120DA2FCCB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1892914" y="4739494"/>
            <a:ext cx="334404" cy="3779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75ABC6E4-8943-F87C-866C-177EB318FE03}"/>
              </a:ext>
            </a:extLst>
          </p:cNvPr>
          <p:cNvSpPr/>
          <p:nvPr/>
        </p:nvSpPr>
        <p:spPr>
          <a:xfrm>
            <a:off x="2227318" y="3508412"/>
            <a:ext cx="364135" cy="1440000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5F3454BF-C053-FE0E-E34E-BE9FA5A05E67}"/>
              </a:ext>
            </a:extLst>
          </p:cNvPr>
          <p:cNvCxnSpPr>
            <a:stCxn id="100" idx="2"/>
            <a:endCxn id="82" idx="1"/>
          </p:cNvCxnSpPr>
          <p:nvPr/>
        </p:nvCxnSpPr>
        <p:spPr>
          <a:xfrm rot="5400000" flipH="1" flipV="1">
            <a:off x="2745047" y="3491652"/>
            <a:ext cx="1121098" cy="1792421"/>
          </a:xfrm>
          <a:prstGeom prst="bentConnector4">
            <a:avLst>
              <a:gd name="adj1" fmla="val -20391"/>
              <a:gd name="adj2" fmla="val 84807"/>
            </a:avLst>
          </a:prstGeom>
          <a:ln w="19050">
            <a:solidFill>
              <a:srgbClr val="7030A0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FDD7C81-DF43-3BDD-51EE-9E54780F2562}"/>
              </a:ext>
            </a:extLst>
          </p:cNvPr>
          <p:cNvSpPr txBox="1"/>
          <p:nvPr/>
        </p:nvSpPr>
        <p:spPr>
          <a:xfrm>
            <a:off x="4473768" y="5187001"/>
            <a:ext cx="89607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R0.h ~ R3.h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F40DB46-9FAF-6470-7F63-F62621F70ECA}"/>
              </a:ext>
            </a:extLst>
          </p:cNvPr>
          <p:cNvSpPr txBox="1"/>
          <p:nvPr/>
        </p:nvSpPr>
        <p:spPr>
          <a:xfrm>
            <a:off x="719991" y="2411722"/>
            <a:ext cx="89607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R0.h ~ R3.h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A2AF65D4-6AA5-E3A5-608D-F489B4F90842}"/>
              </a:ext>
            </a:extLst>
          </p:cNvPr>
          <p:cNvSpPr txBox="1"/>
          <p:nvPr/>
        </p:nvSpPr>
        <p:spPr>
          <a:xfrm>
            <a:off x="2646573" y="2411723"/>
            <a:ext cx="796693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R4.h~R7.h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57AF807-BD65-F007-95F8-D64C87E61DF7}"/>
              </a:ext>
            </a:extLst>
          </p:cNvPr>
          <p:cNvSpPr txBox="1"/>
          <p:nvPr/>
        </p:nvSpPr>
        <p:spPr>
          <a:xfrm>
            <a:off x="4473768" y="2411721"/>
            <a:ext cx="896079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R0.h ~ R3.h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左大括号 112">
            <a:extLst>
              <a:ext uri="{FF2B5EF4-FFF2-40B4-BE49-F238E27FC236}">
                <a16:creationId xmlns:a16="http://schemas.microsoft.com/office/drawing/2014/main" id="{5222BAE1-A0B3-A277-8398-4AE635C15DAF}"/>
              </a:ext>
            </a:extLst>
          </p:cNvPr>
          <p:cNvSpPr/>
          <p:nvPr/>
        </p:nvSpPr>
        <p:spPr>
          <a:xfrm rot="10800000">
            <a:off x="3725438" y="3517427"/>
            <a:ext cx="72722" cy="325687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6E91A89-F01F-D06B-4DB2-27BBD93B7371}"/>
              </a:ext>
            </a:extLst>
          </p:cNvPr>
          <p:cNvSpPr txBox="1"/>
          <p:nvPr/>
        </p:nvSpPr>
        <p:spPr>
          <a:xfrm>
            <a:off x="3831193" y="3551557"/>
            <a:ext cx="424796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a0h.s[0]</a:t>
            </a:r>
            <a:endParaRPr lang="zh-CN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05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AAC1-4AFD-965B-CE29-7A03903E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A2115C-0CD9-7DEF-E7EA-889D4772E890}"/>
              </a:ext>
            </a:extLst>
          </p:cNvPr>
          <p:cNvGraphicFramePr>
            <a:graphicFrameLocks noGrp="1"/>
          </p:cNvGraphicFramePr>
          <p:nvPr/>
        </p:nvGraphicFramePr>
        <p:xfrm>
          <a:off x="291725" y="375253"/>
          <a:ext cx="28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423075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769406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630908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49407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97480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81340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85047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9611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0613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5593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A407644-14DA-3F38-F754-D86143A21CC3}"/>
              </a:ext>
            </a:extLst>
          </p:cNvPr>
          <p:cNvGraphicFramePr>
            <a:graphicFrameLocks noGrp="1"/>
          </p:cNvGraphicFramePr>
          <p:nvPr/>
        </p:nvGraphicFramePr>
        <p:xfrm>
          <a:off x="4604948" y="375253"/>
          <a:ext cx="28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0935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86506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895527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1280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74080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596908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7317825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429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307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45148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D55DF8B-DCAC-3461-2903-557037B2387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171725" y="1095253"/>
            <a:ext cx="1433223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79BE8F4-510E-5C38-47AD-3AF68BCE8263}"/>
              </a:ext>
            </a:extLst>
          </p:cNvPr>
          <p:cNvGraphicFramePr>
            <a:graphicFrameLocks noGrp="1"/>
          </p:cNvGraphicFramePr>
          <p:nvPr/>
        </p:nvGraphicFramePr>
        <p:xfrm>
          <a:off x="8969468" y="375253"/>
          <a:ext cx="28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0935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86506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895527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1280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74080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596908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7317825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429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307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45148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12C207D-4645-686C-8461-33953119FFAF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7484948" y="1095253"/>
            <a:ext cx="148452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601FAB9-5555-891C-7373-1146521A08E9}"/>
              </a:ext>
            </a:extLst>
          </p:cNvPr>
          <p:cNvGraphicFramePr>
            <a:graphicFrameLocks noGrp="1"/>
          </p:cNvGraphicFramePr>
          <p:nvPr/>
        </p:nvGraphicFramePr>
        <p:xfrm>
          <a:off x="291725" y="3817347"/>
          <a:ext cx="28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423075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769406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630908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549407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97480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813401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850476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9611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0613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55933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DE39228-C66F-E143-9B46-F51A1E208AF0}"/>
              </a:ext>
            </a:extLst>
          </p:cNvPr>
          <p:cNvGraphicFramePr>
            <a:graphicFrameLocks noGrp="1"/>
          </p:cNvGraphicFramePr>
          <p:nvPr/>
        </p:nvGraphicFramePr>
        <p:xfrm>
          <a:off x="5001017" y="3457347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61239807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343882393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836735550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4108924212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392720920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695001672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57327317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39882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1415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389411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410347E-E890-9EA4-5B8F-7ED2C9617FC0}"/>
              </a:ext>
            </a:extLst>
          </p:cNvPr>
          <p:cNvGraphicFramePr>
            <a:graphicFrameLocks noGrp="1"/>
          </p:cNvGraphicFramePr>
          <p:nvPr/>
        </p:nvGraphicFramePr>
        <p:xfrm>
          <a:off x="8969468" y="3817347"/>
          <a:ext cx="288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4292217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909354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286506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895527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712804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1740804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5969088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7317825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7905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429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307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45148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C11F075-8414-F35C-BD9A-D3064967284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3171725" y="4537347"/>
            <a:ext cx="182929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8317899-4645-55A6-887F-5684828E6570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7161017" y="4537347"/>
            <a:ext cx="1808451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8EE23D3-1224-D650-AAE3-63C3BF853242}"/>
              </a:ext>
            </a:extLst>
          </p:cNvPr>
          <p:cNvSpPr txBox="1"/>
          <p:nvPr/>
        </p:nvSpPr>
        <p:spPr>
          <a:xfrm>
            <a:off x="903774" y="2015934"/>
            <a:ext cx="1655903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R0.h ~ R3.h</a:t>
            </a:r>
            <a:endParaRPr lang="zh-CN" altLang="en-US" sz="2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62B93F-7EAD-0AE7-29CC-790469EC44DD}"/>
              </a:ext>
            </a:extLst>
          </p:cNvPr>
          <p:cNvSpPr txBox="1"/>
          <p:nvPr/>
        </p:nvSpPr>
        <p:spPr>
          <a:xfrm>
            <a:off x="3449113" y="706962"/>
            <a:ext cx="878447" cy="4924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2600" dirty="0"/>
              <a:t>4 </a:t>
            </a:r>
            <a:r>
              <a:rPr lang="en-US" altLang="zh-CN" sz="2600" dirty="0" err="1"/>
              <a:t>trn.s</a:t>
            </a:r>
            <a:endParaRPr lang="zh-CN" altLang="en-US" sz="2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266B88-BE97-50E2-D7F7-3A4FAC5EECDB}"/>
              </a:ext>
            </a:extLst>
          </p:cNvPr>
          <p:cNvSpPr txBox="1"/>
          <p:nvPr/>
        </p:nvSpPr>
        <p:spPr>
          <a:xfrm>
            <a:off x="7760734" y="729494"/>
            <a:ext cx="932949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4 </a:t>
            </a:r>
            <a:r>
              <a:rPr lang="en-US" altLang="zh-CN" sz="2600" dirty="0" err="1"/>
              <a:t>trn.d</a:t>
            </a:r>
            <a:endParaRPr lang="zh-CN" altLang="en-US" sz="2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47A8F6D-EF33-B0E6-5E4F-8627B922B288}"/>
              </a:ext>
            </a:extLst>
          </p:cNvPr>
          <p:cNvSpPr txBox="1"/>
          <p:nvPr/>
        </p:nvSpPr>
        <p:spPr>
          <a:xfrm>
            <a:off x="3442765" y="4168015"/>
            <a:ext cx="1287212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4 </a:t>
            </a:r>
            <a:r>
              <a:rPr lang="en-US" altLang="zh-CN" sz="2600" dirty="0" err="1"/>
              <a:t>movh.s</a:t>
            </a:r>
            <a:endParaRPr lang="zh-CN" altLang="en-US" sz="26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CB035F0-101E-6ADD-71E7-932512630FFC}"/>
              </a:ext>
            </a:extLst>
          </p:cNvPr>
          <p:cNvSpPr txBox="1"/>
          <p:nvPr/>
        </p:nvSpPr>
        <p:spPr>
          <a:xfrm>
            <a:off x="7435263" y="4168015"/>
            <a:ext cx="1259961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4 </a:t>
            </a:r>
            <a:r>
              <a:rPr lang="en-US" altLang="zh-CN" sz="2600" dirty="0" err="1"/>
              <a:t>movv.s</a:t>
            </a:r>
            <a:endParaRPr lang="zh-CN" altLang="en-US" sz="26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321B64-F959-6684-0853-DF6F1FFAB910}"/>
              </a:ext>
            </a:extLst>
          </p:cNvPr>
          <p:cNvSpPr txBox="1"/>
          <p:nvPr/>
        </p:nvSpPr>
        <p:spPr>
          <a:xfrm>
            <a:off x="903774" y="5617347"/>
            <a:ext cx="1655903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R0.h ~ R3.h</a:t>
            </a:r>
            <a:endParaRPr lang="zh-CN" altLang="en-US" sz="26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72529CB-F7BC-5963-1A8B-C21AA0CC4670}"/>
              </a:ext>
            </a:extLst>
          </p:cNvPr>
          <p:cNvSpPr txBox="1"/>
          <p:nvPr/>
        </p:nvSpPr>
        <p:spPr>
          <a:xfrm>
            <a:off x="9648191" y="2015933"/>
            <a:ext cx="1655903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R0.h ~ R3.h</a:t>
            </a:r>
            <a:endParaRPr lang="zh-CN" altLang="en-US" sz="2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3CBD5CF-FB1B-1681-1670-AFD650D3A257}"/>
              </a:ext>
            </a:extLst>
          </p:cNvPr>
          <p:cNvSpPr txBox="1"/>
          <p:nvPr/>
        </p:nvSpPr>
        <p:spPr>
          <a:xfrm>
            <a:off x="5216997" y="2015933"/>
            <a:ext cx="1655903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R4.h ~ R7.h</a:t>
            </a:r>
            <a:endParaRPr lang="zh-CN" altLang="en-US" sz="26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5BA6472-91DB-8EF3-67E5-0EFF6AC550BC}"/>
              </a:ext>
            </a:extLst>
          </p:cNvPr>
          <p:cNvSpPr txBox="1"/>
          <p:nvPr/>
        </p:nvSpPr>
        <p:spPr>
          <a:xfrm>
            <a:off x="5745987" y="5759673"/>
            <a:ext cx="597921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A0.s</a:t>
            </a:r>
            <a:endParaRPr lang="zh-CN" altLang="en-US" sz="2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2CBF4C2-1167-DD51-F403-79B6E574DE44}"/>
              </a:ext>
            </a:extLst>
          </p:cNvPr>
          <p:cNvSpPr txBox="1"/>
          <p:nvPr/>
        </p:nvSpPr>
        <p:spPr>
          <a:xfrm>
            <a:off x="9648191" y="5759673"/>
            <a:ext cx="1655903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R0.h ~ R3.h</a:t>
            </a:r>
            <a:endParaRPr lang="zh-CN" altLang="en-US" sz="26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17030D4-C89F-DB5C-6352-6BDF4DB43CF6}"/>
              </a:ext>
            </a:extLst>
          </p:cNvPr>
          <p:cNvSpPr txBox="1"/>
          <p:nvPr/>
        </p:nvSpPr>
        <p:spPr>
          <a:xfrm>
            <a:off x="3462512" y="2704139"/>
            <a:ext cx="5237011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(a) Pack matrix by vector instructions</a:t>
            </a:r>
            <a:endParaRPr lang="zh-CN" altLang="en-US" sz="26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03F2493-3699-8A1F-8370-1785AA8AAF2D}"/>
              </a:ext>
            </a:extLst>
          </p:cNvPr>
          <p:cNvSpPr txBox="1"/>
          <p:nvPr/>
        </p:nvSpPr>
        <p:spPr>
          <a:xfrm>
            <a:off x="3818378" y="6264880"/>
            <a:ext cx="4525278" cy="49244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zh-CN" sz="2600" dirty="0"/>
              <a:t>(b) Pack matrix by array register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217799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386</Words>
  <Application>Microsoft Office PowerPoint</Application>
  <PresentationFormat>宽屏</PresentationFormat>
  <Paragraphs>251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 kiri</dc:creator>
  <cp:lastModifiedBy>miko kiri</cp:lastModifiedBy>
  <cp:revision>24</cp:revision>
  <dcterms:created xsi:type="dcterms:W3CDTF">2025-09-01T14:25:13Z</dcterms:created>
  <dcterms:modified xsi:type="dcterms:W3CDTF">2025-12-15T20:34:01Z</dcterms:modified>
</cp:coreProperties>
</file>